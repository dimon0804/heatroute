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79" r:id="rId27"/>
    <p:sldId id="271" r:id="rId19"/>
    <p:sldId id="270" r:id="rId18"/>
    <p:sldId id="276" r:id="rId24"/>
    <p:sldId id="278" r:id="rId26"/>
    <p:sldId id="281" r:id="rId29"/>
    <p:sldId id="275" r:id="rId23"/>
    <p:sldId id="283" r:id="rId31"/>
    <p:sldId id="273" r:id="rId21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1" Type="http://schemas.openxmlformats.org/officeDocument/2006/relationships/slide" Target="slides/slide18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9" Type="http://schemas.openxmlformats.org/officeDocument/2006/relationships/slide" Target="slides/slide26.xml"/><Relationship Id="rId31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Участки, млн ₽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Одна сеть
1 место</c:v>
                </c:pt>
                <c:pt idx="1">
                  <c:v>Две части
2 место</c:v>
                </c:pt>
                <c:pt idx="2">
                  <c:v>Три части
3 место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197.6</c:v>
                </c:pt>
                <c:pt idx="1">
                  <c:v>195.1</c:v>
                </c:pt>
                <c:pt idx="2">
                  <c:v>201.3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Камеры, млн ₽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Одна сеть
1 место</c:v>
                </c:pt>
                <c:pt idx="1">
                  <c:v>Две части
2 место</c:v>
                </c:pt>
                <c:pt idx="2">
                  <c:v>Три части
3 место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51.0</c:v>
                </c:pt>
                <c:pt idx="1">
                  <c:v>59.0</c:v>
                </c:pt>
                <c:pt idx="2">
                  <c:v>52.0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220.0"/>
          <c:min val="0.0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40.0"/>
      </c:valAx>
      <c:spPr bwMode="auto">
        <a:prstGeom prst="rect">
          <a:avLst/>
        </a:prstGeom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1"/>
          <c:y val="0.938201"/>
          <c:w val="0.947401"/>
          <c:h val="0.061799"/>
        </c:manualLayout>
      </c:layout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Стоимость, млн ₽</c:v>
                </c:pt>
              </c:strCache>
            </c:strRef>
          </c:tx>
          <c:spPr bwMode="auto">
            <a:ln w="63500"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</c:dPt>
          <c:dPt>
            <c:idx val="3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Участки сети</c:v>
                </c:pt>
                <c:pt idx="1">
                  <c:v>Тепловые камеры</c:v>
                </c:pt>
                <c:pt idx="2">
                  <c:v>Врезки в существующие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197.6</c:v>
                </c:pt>
                <c:pt idx="1">
                  <c:v>51.0</c:v>
                </c:pt>
                <c:pt idx="2">
                  <c:v>0.0</c:v>
                </c:pt>
              </c:numCache>
            </c:numRef>
          </c:val>
        </c:ser>
        <c:firstSliceAng val="0"/>
        <c:holeSize val="75"/>
      </c:doughnutChart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1D22"/>
              </a:solidFill>
            </a:defRPr>
          </a:pPr>
        </a:p>
      </c:txPr>
    </c:legend>
    <c:plotVisOnly val="1"/>
    <c:dispBlanksAs val="gap"/>
    <c:showDLblsOverMax val="0"/>
  </c:chart>
  <c:spPr bwMode="auto">
    <a:xfrm rot="0">
      <a:off x="625096" y="1360288"/>
      <a:ext cx="5125748" cy="4385667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436559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77959549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35757960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802325003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5868716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054435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504873-082C-67B0-A90F-D9738BEBCD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F5FAF3-91FE-71ED-6DF6-EDF7FF39F8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503108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853684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73345843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336859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300555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00585259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0619CC-9C35-5872-C8BE-3DD20605E2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20F2B8-5503-FEB5-48E2-65930C8D47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F6053C-3D6E-70AD-3B0D-43A99772BD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C0E26A-E266-F980-3E06-64325771A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395C33-26C5-EB36-47CD-924EA8B207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4FE0A2-28C6-B6CD-1CF0-6F914ED7FC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2C59C3-FAE5-748C-2A51-95AAF1ACDC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0909F-3F75-4DF4-35C2-E64E8CF6BA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EA52E6-48A7-9983-A2F2-D5BF29590C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BB00A5-DA44-275C-F039-EA80AE0B9C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81575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9494679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8332519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6346697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38040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017873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64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619000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2393122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7177571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96301593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66217881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7086729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519817007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681045045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8067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64444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2279867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37151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endParaRPr/>
          </a:p>
        </p:txBody>
      </p:sp>
      <p:sp>
        <p:nvSpPr>
          <p:cNvPr id="176238214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395524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222249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772392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79329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681682553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876720219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846813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119411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0280379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3281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endParaRPr/>
          </a:p>
        </p:txBody>
      </p:sp>
      <p:sp>
        <p:nvSpPr>
          <p:cNvPr id="110942508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51029292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endParaRPr/>
          </a:p>
        </p:txBody>
      </p:sp>
      <p:sp>
        <p:nvSpPr>
          <p:cNvPr id="1648286927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47760584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44048437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045244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389126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842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269692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5001025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97505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endParaRPr/>
          </a:p>
        </p:txBody>
      </p:sp>
      <p:sp>
        <p:nvSpPr>
          <p:cNvPr id="2031237646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endParaRPr/>
          </a:p>
        </p:txBody>
      </p:sp>
      <p:sp>
        <p:nvSpPr>
          <p:cNvPr id="41816318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endParaRPr/>
          </a:p>
        </p:txBody>
      </p:sp>
      <p:sp>
        <p:nvSpPr>
          <p:cNvPr id="20350577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070942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100000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40634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1328665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44655333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91751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96528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2835626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567413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19053859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876267129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210753367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58950377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24628648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42997562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2139494142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674508976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1934743732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791691895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18291802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85079378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endParaRPr/>
          </a:p>
        </p:txBody>
      </p:sp>
      <p:sp>
        <p:nvSpPr>
          <p:cNvPr id="200175106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23363066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127230627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63164401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198271045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562517010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825499830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4415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5185617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603011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51827041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619528760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59325927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66576923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33768442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99716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8691638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12449318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5879793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endParaRPr/>
          </a:p>
        </p:txBody>
      </p:sp>
      <p:sp>
        <p:nvSpPr>
          <p:cNvPr id="494329185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912961135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1025155933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1156586467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  <p:sp>
        <p:nvSpPr>
          <p:cNvPr id="380316473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92642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496677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285507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3687979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1347250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29651545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3500935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0690766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018354095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94431983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8488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9905953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4726953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3657401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4621157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66184505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6806904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52085900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484082245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62184547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92917516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328371873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31788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0715674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988377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5108602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4943494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3787823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251287908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90830083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71374686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676297755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204446507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40046134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155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7346466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824792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325540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7150235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429442796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776767899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498245921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757140972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366407333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85731745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456848216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677413945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004100664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67386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265435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9909642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98170416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8807648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368122543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63367256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06360911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976313538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04157806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670782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  <p:txBody>
          <a:bodyPr/>
          <a:p/>
        </p:txBody>
      </p:sp>
      <p:sp>
        <p:nvSpPr>
          <p:cNvPr id="9404967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652616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97016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4390427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62421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724241295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550891226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81634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1634879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0522744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887881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56189719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2079546159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35334604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70456624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  <p:txBody>
          <a:bodyPr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95098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638667405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23734928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69198674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79001257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33649615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107478414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sp>
        <p:nvSpPr>
          <p:cNvPr id="116599037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endParaRPr/>
          </a:p>
        </p:txBody>
      </p:sp>
      <p:sp>
        <p:nvSpPr>
          <p:cNvPr id="511500601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endParaRPr/>
          </a:p>
        </p:txBody>
      </p:sp>
      <p:cxnSp>
        <p:nvCxnSpPr>
          <p:cNvPr id="1868560018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4734269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293066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2300529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3667929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224304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17475755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26487890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85626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850870717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734950415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883419801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76338528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177155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4805442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68116416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817416727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850985546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014431633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89557381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40152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6367435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942513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15.09.2026</a:t>
            </a:fld>
            <a:endParaRPr lang="ru-RU"/>
          </a:p>
        </p:txBody>
      </p:sp>
      <p:sp>
        <p:nvSpPr>
          <p:cNvPr id="6186873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639760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8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828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579047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t>HeatRoute</a:t>
            </a:r>
            <a:endParaRPr lang="ru-RU" sz="4800"/>
          </a:p>
        </p:txBody>
      </p:sp>
      <p:sp>
        <p:nvSpPr>
          <p:cNvPr id="828732603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1141422382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t>Задача №2 · трассы подключения к тепловым сетям</a:t>
            </a:r>
            <a:endParaRPr lang="ru-RU"/>
          </a:p>
          <a:p>
            <a:pPr indent="268288">
              <a:defRPr/>
            </a:pPr>
            <a:r>
              <a:t>Департамент информационных технологий Москвы</a:t>
            </a:r>
            <a:endParaRPr lang="ru-RU"/>
          </a:p>
          <a:p>
            <a:pPr indent="268288">
              <a:defRPr/>
            </a:pPr>
            <a:r>
              <a:t>Команда [название команды]</a:t>
            </a:r>
            <a:endParaRPr lang="ru-RU"/>
          </a:p>
        </p:txBody>
      </p:sp>
      <p:sp>
        <p:nvSpPr>
          <p:cNvPr id="306002747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025112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90181094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203635175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Сервис не только считает, но и доказывает, что посчитал по правилам. Готовую выгрузку он сверяет с двадцатью четырьмя правилами технического приложения — и свою, и чужую. Правила вынесены в подменяемый справочник, поэтому при смене редакции требований проверка едет вместе с расчётом.</a:t>
            </a:r>
            <a:endParaRPr/>
          </a:p>
        </p:txBody>
      </p:sp>
      <p:sp>
        <p:nvSpPr>
          <p:cNvPr id="2003381422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Дмитрий [фамилия], [специальность]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Количество участников: 4 человека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Команда сложилась на хакатонах и работает вместе постоянно.</a:t>
            </a:r>
            <a:endParaRPr/>
          </a:p>
        </p:txBody>
      </p:sp>
      <p:sp>
        <p:nvSpPr>
          <p:cNvPr id="1267145178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760568974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HeatRoute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137982628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5742792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62107175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19926889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756548230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На входе один файл GeoJSON: существующая тепловая сеть, точки подключения новых объектов и пространственные ограничения. На выходе до трёх ранжированных вариантов новой сети — трассы, места присоединения, тепловые камеры, расходы, условные диаметры и полная стоимость строительства.</a:t>
            </a:r>
            <a:endParaRPr/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Работа, которая у проектировщика занимает недели, занимает полминуты.</a:t>
            </a:r>
            <a:endParaRPr/>
          </a:p>
        </p:txBody>
      </p:sp>
      <p:sp>
        <p:nvSpPr>
          <p:cNvPr id="1324966468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2036351755" name="Picture 2036351754" descr="tmpxyabka3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655957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8268414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[место работы или учёбы]</a:t>
            </a:r>
            <a:endParaRPr/>
          </a:p>
        </p:txBody>
      </p:sp>
      <p:sp>
        <p:nvSpPr>
          <p:cNvPr id="1854072655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Никита</a:t>
            </a:r>
            <a:endParaRPr/>
          </a:p>
        </p:txBody>
      </p:sp>
      <p:sp>
        <p:nvSpPr>
          <p:cNvPr id="1007291747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5242430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[место работы или учёбы]</a:t>
            </a:r>
            <a:endParaRPr/>
          </a:p>
        </p:txBody>
      </p:sp>
      <p:sp>
        <p:nvSpPr>
          <p:cNvPr id="81915135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Алёна</a:t>
            </a:r>
            <a:endParaRPr/>
          </a:p>
        </p:txBody>
      </p:sp>
      <p:sp>
        <p:nvSpPr>
          <p:cNvPr id="1186706168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0008517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[роль в команде]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  <a:endParaRPr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[место работы или учёбы]</a:t>
            </a:r>
            <a:endParaRPr/>
          </a:p>
        </p:txBody>
      </p:sp>
      <p:sp>
        <p:nvSpPr>
          <p:cNvPr id="581152661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Арина</a:t>
            </a:r>
            <a:endParaRPr/>
          </a:p>
        </p:txBody>
      </p:sp>
      <p:sp>
        <p:nvSpPr>
          <p:cNvPr id="538164424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1114918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6487427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954815558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1185198108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678689467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831933470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325370163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2056807653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Капитан, архитектура и бэкенд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[ник в мессенджере]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[телефон]</a:t>
            </a:r>
            <a:endParaRPr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[место работы или учёбы]</a:t>
            </a:r>
            <a:endParaRPr/>
          </a:p>
        </p:txBody>
      </p:sp>
      <p:sp>
        <p:nvSpPr>
          <p:cNvPr id="318184611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Дмитрий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164101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85549031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567851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t>О команде</a:t>
            </a:r>
            <a:endParaRPr lang="ru-RU">
              <a:latin typeface="Montserrat"/>
            </a:endParaRPr>
          </a:p>
        </p:txBody>
      </p:sp>
      <p:sp>
        <p:nvSpPr>
          <p:cNvPr id="508194183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Собрались на хакатонах и с тех пор работаем вместе постоянно: берём задачу целиком, от разбора требований до сдачи. Каждый отвечает за свою часть и доводит её до состояния, в котором не стыдно показать заказчику.</a:t>
            </a:r>
            <a:endParaRPr/>
          </a:p>
        </p:txBody>
      </p:sp>
      <p:sp>
        <p:nvSpPr>
          <p:cNvPr id="90717103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777575382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Восемнадцатого сентября, посреди разработки, организаторы переписали техническое приложение: реконструкция существующей сети ушла из расчётной модели. Помогло то, как решение было устроено заранее: справочник требований лежит в конфигурации, а модель результата отделена от выгрузки, поэтому переделка заняла день, а не неделю.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879835658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Самое сложное в процессе:</a:t>
            </a:r>
            <a:br>
              <a:rPr lang="ru-RU" b="1">
                <a:solidFill>
                  <a:schemeClr val="accent5"/>
                </a:solidFill>
              </a:rPr>
            </a:br>
            <a:endParaRPr/>
          </a:p>
        </p:txBody>
      </p:sp>
      <p:sp>
        <p:nvSpPr>
          <p:cNvPr id="1604269681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Здесь решение проверяется объективно: у результата есть формула, и по ней видно, лучше он или хуже. К тому же это настоящая работа города — подключение домов к теплу сейчас считают руками, неделями.</a:t>
            </a:r>
            <a:endParaRPr/>
          </a:p>
        </p:txBody>
      </p:sp>
      <p:sp>
        <p:nvSpPr>
          <p:cNvPr id="385220220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выбрали именно эту задачу:</a:t>
            </a:r>
            <a:br>
              <a:rPr lang="ru-RU" b="1">
                <a:solidFill>
                  <a:schemeClr val="accent5"/>
                </a:solidFill>
              </a:rPr>
            </a:br>
            <a:endParaRPr/>
          </a:p>
        </p:txBody>
      </p:sp>
      <p:cxnSp>
        <p:nvCxnSpPr>
          <p:cNvPr id="1313515211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9313984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0167076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198462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363454250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02594137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927403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1571088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89123278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5562034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2595226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rgbClr val="1C1D22"/>
                </a:solidFill>
              </a:rPr>
              <a:t>Java 11, Spring Boot 2.6.3, PostgreSQL с PostGIS, React и MapLibre — стек задан техническим заданием, отклонений нет.</a:t>
            </a:r>
            <a:endParaRPr/>
          </a:p>
          <a:p>
            <a:pPr>
              <a:defRPr/>
            </a:pPr>
            <a:r>
              <a:rPr lang="ru-RU" sz="1400">
                <a:solidFill>
                  <a:srgbClr val="1C1D22"/>
                </a:solidFill>
              </a:rPr>
              <a:t>Ядро расчёта — граф видимости вместо сетки. Кратчайший путь в нём состоит из прямых отрезков и огибает препятствия по касательной, то есть даёт ту геометрию, которую рисует инженер. Сеточный поиск при любом шаге даёт ступенчатую линию, а сглаживание такой линии рискует нарушить только что соблюдённые отступы.</a:t>
            </a:r>
            <a:endParaRPr/>
          </a:p>
          <a:p>
            <a:pPr>
              <a:defRPr/>
            </a:pPr>
            <a:r>
              <a:rPr lang="ru-RU" sz="1400">
                <a:solidFill>
                  <a:srgbClr val="1C1D22"/>
                </a:solidFill>
              </a:rPr>
              <a:t>Дальше дерево Штейнера с развилками в точке Ферма, подбор диаметров по расходу и предельной длине, расчёт стоимости и ранжирование вариантов.</a:t>
            </a:r>
            <a:endParaRPr/>
          </a:p>
          <a:p>
            <a:pPr>
              <a:defRPr/>
            </a:pPr>
            <a:r>
              <a:rPr lang="ru-RU" sz="1400">
                <a:solidFill>
                  <a:srgbClr val="1C1D22"/>
                </a:solidFill>
              </a:rPr>
              <a:t>Входной файл до трёх гигабайт разбирается потоково, выгрузка пишется курсором из базы. Проверено загрузкой, а не настройкой.</a:t>
            </a:r>
            <a:endParaRPr/>
          </a:p>
        </p:txBody>
      </p:sp>
      <p:sp>
        <p:nvSpPr>
          <p:cNvPr id="566571101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rgbClr val="1C1D22"/>
                </a:solidFill>
              </a:rPr>
              <a:t>Сервис закрывает ручную работу, которая сейчас занимает недели: подобрать место присоединения, провести трассу в обход ограничений, подобрать диаметры, посчитать смету и сравнить варианты.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rgbClr val="1C1D22"/>
                </a:solidFill>
              </a:rPr>
              <a:t>Готов к внедрению как есть: поднимается одной командой, справочник требований подменяется файлом без пересборки, координаты и настройки конкурсного набора нигде не зашиты.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rgbClr val="1C1D22"/>
                </a:solidFill>
              </a:rPr>
              <a:t>Дальше — приёмка расчётов подрядчиков. Ручка проверки принимает любую выгрузку, не только нашу, и отвечает перечнем нарушений с указанием объектов. Это ровно то, что департамент сегодня делает глазами.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</p:txBody>
      </p:sp>
      <p:sp>
        <p:nvSpPr>
          <p:cNvPr id="37943013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8830947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196577184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652608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11338560" cy="44237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ТРЕБОВАНИЯ ИЗМЕНИЛИСЬ 18 СЕНТЯБРЯ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112207087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11338560" cy="712587"/>
          </a:xfrm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Реконструкция существующей сети ушла из расчётной модели. Удалили код, а не отключили.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28307719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11338560" cy="712587"/>
          </a:xfrm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Стоимость строительства складывается из трёх слагаемых вместо шести; врезка платится за примыкание к существующей камере.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8338758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11338560" cy="712587"/>
          </a:xfrm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Состав выгрузки сокращён до четырёх типов объектов, Z-координаты убраны.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4378894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11338560" cy="712587"/>
          </a:xfrm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Диаметр подбирается по перегонам между узлами смены расхода и не уменьшается к месту присоединения.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13842091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11338560" cy="712587"/>
          </a:xfrm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Появился предел угла поворота 90°, железная дорога стала непроходимой. Полный перечень отличий — отдельным документом.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94632082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1254902224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5322299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5337936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17608504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280231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076476" name="Скругленный прямоугольник 9"/>
          <p:cNvSpPr/>
          <p:nvPr/>
        </p:nvSpPr>
        <p:spPr bwMode="auto">
          <a:xfrm>
            <a:off x="346075" y="324562"/>
            <a:ext cx="481523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12676878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60956029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62400119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28564869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998895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5724704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Разбор данных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2053126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Потоковый разбор GeoJSON, проекция в метры и восстановление того, чего во входных данных нет: диаметров камер, направления к источнику, контуров объектов. Каждое допущение попадает в протокол.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28085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Свободное пространство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8481029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Ограничения расширяются на свой отступ по таблице 2 приложения. По выпуклым вершинам строится граф видимости: 3 545 узлов и 96 027 рёбер, около пяти секунд параллельно по ядрам машины.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1410775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Построение сети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23945839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Точки группируются по расстоянию в графе, строится дерево Штейнера, развилки переносятся в точку Ферма, ветви без потребителей отсекаются. Поворот не круче 90°, самопересечений нет.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21716595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Стоимость и выбор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95125267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Расходы считаются снизу вверх, диаметры — по расходу и предельной длине, стоимость — по разделу 6 приложения. Три содержательно разных варианта ранжируются по показателю S.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4771970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КАК УСТРОЕН РАСЧЁТ</a:t>
            </a:r>
            <a:endParaRPr lang="ru-RU"/>
          </a:p>
        </p:txBody>
      </p:sp>
      <p:sp>
        <p:nvSpPr>
          <p:cNvPr id="779797039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45253353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8300910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40351341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96173" name="Скругленный прямоугольник 22"/>
          <p:cNvSpPr/>
          <p:nvPr/>
        </p:nvSpPr>
        <p:spPr bwMode="auto">
          <a:xfrm>
            <a:off x="346075" y="324562"/>
            <a:ext cx="481523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70382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83502220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Чего не делаем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731393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Полного гидравлического расчёта нет: вместо него предельная длина участка одного диаметра, как и предусмотрено кейсом. Рельеф и геология не учитываются.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93399432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Честно об эвристике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2228464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Задача NP-трудна, глобального оптимума эвристика не гарантирует. Результат воспроизводим, а локальная оптимальность подтверждена перебором ходов.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7341822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Где упрёмся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9978124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Узкое место — граф видимости: он растёт квадратично от числа вершин препятствий. На наборе в разы плотнее переключимся на сетку по триангуляции.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93439292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Приёмка подрядчиков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025618354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Ручка проверки уже принимает чужие выгрузки. Следующий шаг — приёмка расчётов подрядчиков как регламентная процедура, с журналом замечаний.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4828672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Массовый расчёт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2115450768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Сервис считает один набор за полминуты. Для города это очередь заявок: расчёт по каждому обращению за подключением, без участия человека.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36766635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Смета и проект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865263304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Ведомость объёмов работ уже открывается в Excel. Дальше — обмен с проектными системами в формате, который примет сметчик без правок.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9324145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ГРАНИЦЫ И РАЗВИТИЕ</a:t>
            </a:r>
            <a:endParaRPr lang="ru-RU"/>
          </a:p>
        </p:txBody>
      </p:sp>
      <p:sp>
        <p:nvSpPr>
          <p:cNvPr id="99880086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45101058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50570923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9495900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39837298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1859137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8A83D1"/>
                </a:solidFill>
              </a:rPr>
              <a:t>06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802863" name="Скругленный прямоугольник 1"/>
          <p:cNvSpPr/>
          <p:nvPr/>
        </p:nvSpPr>
        <p:spPr bwMode="auto">
          <a:xfrm>
            <a:off x="346075" y="324562"/>
            <a:ext cx="505480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73006588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74319929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98828479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03168073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92299828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90195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15325647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sz="1200">
                <a:solidFill>
                  <a:srgbClr val="1C1D22"/>
                </a:solidFill>
              </a:rPr>
              <a:t>Решение, которое нельзя проверить, ничего не стоит.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sz="1200">
                <a:solidFill>
                  <a:srgbClr val="1C1D22"/>
                </a:solidFill>
              </a:rPr>
              <a:t>Поэтому правила приложения записаны заново, по тексту, и сверяются с готовой выгрузкой. Совпадение двух независимых реализаций — довод; совпадение кода с самим собой — нет.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 sz="1200">
                <a:solidFill>
                  <a:srgbClr val="1C1D22"/>
                </a:solidFill>
              </a:rPr>
              <a:t>Проверка нашла в нашей же выгрузке два дефекта, которых не видел ни один тест: пустые значения глубины пропадали при записи в базу, а массив идентификаторов терял числовой тип. Оба исправлены до сдачи.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1695473419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123 теста бэкенда и 11 сквозных в браузере, ноль падений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06964435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2 815 сверок выгрузки с правилами приложения, нарушений нет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67570078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1 916 сверок независимой реализацией правил на другом языке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63642049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16 шагов из 16 в проверке развёртывания на чистой машине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79574100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 sz="1200">
                <a:solidFill>
                  <a:srgbClr val="1C1D22"/>
                </a:solidFill>
              </a:rPr>
              <a:t>3 ГБ и 1 262 935 объектов на входе — предел ТЗ проверен загрузкой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87550704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6874295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ЧЕМ ЭТО ПРОВЕРЯЕТСЯ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00528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31803062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95491107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49771261" name="Скругленный прямоугольник 1"/>
          <p:cNvSpPr/>
          <p:nvPr/>
        </p:nvSpPr>
        <p:spPr bwMode="auto">
          <a:xfrm>
            <a:off x="346075" y="324562"/>
            <a:ext cx="265907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18200855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21</a:t>
            </a:fld>
            <a:endParaRPr lang="ru-RU"/>
          </a:p>
        </p:txBody>
      </p:sp>
      <p:sp>
        <p:nvSpPr>
          <p:cNvPr id="103757196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FF0053"/>
                </a:solidFill>
              </a:rPr>
              <a:t>S = 12,145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184280545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Показатель лучшего варианта. Все семнадцать точек подключены, неподключённых нет, штраф нулевой.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390369431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FF0053"/>
                </a:solidFill>
              </a:rPr>
              <a:t>248 579 372 ₽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444158807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Стоимость строительства: участки 197,6 млн и тринадцать камер на 51,0 млн. Врезок в существующие камеры нет.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61855380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FF0053"/>
                </a:solidFill>
              </a:rPr>
              <a:t>1 728,4 м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1747074490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Новая сеть: двадцать девять участков и тринадцать камер, расчёт около двадцати секунд.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656242688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0306637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763648" cy="376138"/>
          </a:xfrm>
        </p:spPr>
        <p:txBody>
          <a:bodyPr/>
          <a:lstStyle/>
          <a:p>
            <a:pPr>
              <a:defRPr/>
            </a:pPr>
            <a:r>
              <a:t>РЕЗУЛЬТАТ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332679" name="Скругленный прямоугольник 1"/>
          <p:cNvSpPr/>
          <p:nvPr/>
        </p:nvSpPr>
        <p:spPr bwMode="auto">
          <a:xfrm>
            <a:off x="346075" y="324562"/>
            <a:ext cx="505480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01866992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6"/>
                </a:solidFill>
              </a:rPr>
              <a:t>23</a:t>
            </a:fld>
            <a:endParaRPr lang="ru-RU">
              <a:solidFill>
                <a:schemeClr val="accent6"/>
              </a:solidFill>
            </a:endParaRPr>
          </a:p>
        </p:txBody>
      </p:sp>
      <p:sp>
        <p:nvSpPr>
          <p:cNvPr id="1854820705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FF0053"/>
                </a:solidFill>
              </a:rPr>
              <a:t>197,6 млн ₽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437570755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642164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Двадцать девять участков: длина, умноженная на цену метра своего диаметра, и коэффициент специального прохода там, где он есть.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1524911471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FF0053"/>
                </a:solidFill>
              </a:rPr>
              <a:t>51,0 млн ₽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413911138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08386"/>
            <a:ext cx="4790314" cy="642164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Тринадцать новых тепловых камер. Цена камеры задана её диаметром, а он берётся по наибольшему из примыкающих участков.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763352540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FF0053"/>
                </a:solidFill>
              </a:rPr>
              <a:t>0 ₽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630677213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276947"/>
            <a:ext cx="4790314" cy="642164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Врезок в существующие камеры нет: присоединение выполнено новой камерой на разделённой ею линии, и по разделу 6 это выходит дешевле.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2074091106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FF0053"/>
                </a:solidFill>
              </a:rPr>
              <a:t>27,3 млн ₽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468034378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545509"/>
            <a:ext cx="4790314" cy="642164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Вклад самой дорогой точки подключения. Посчитан прогоном задачи без неё, а не вычитанием длины отвода.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91471041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342791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СТРУКТУРА СТОИМОСТИ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179991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03105969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200303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69812313" name="Скругленный прямоугольник 1"/>
          <p:cNvSpPr/>
          <p:nvPr/>
        </p:nvSpPr>
        <p:spPr bwMode="auto">
          <a:xfrm>
            <a:off x="346075" y="324562"/>
            <a:ext cx="19403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03920585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97587917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49396082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56541592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sz="1400" b="1">
                <a:solidFill>
                  <a:srgbClr val="310F53"/>
                </a:solidFill>
              </a:rPr>
              <a:t>Что нужно городу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Подключить перспективные объекты к существующей тепловой сети: выбрать место присоединения, проложить трассу, подобрать диаметры, посчитать стоимость и предложить несколько вариантов на выбор.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40909709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sz="1400" b="1">
                <a:solidFill>
                  <a:srgbClr val="310F53"/>
                </a:solidFill>
              </a:rPr>
              <a:t>Почему это не делается быстро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Ограничений одиннадцать типов, и у каждого свой отступ, свой угол пересечения и свой коэффициент стоимости. Диаметр зависит от расхода, а расход — от того, какие объекты пойдут по этой трубе. Всё связано, и вручную это недели работы.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68763967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sz="1400" b="1">
                <a:solidFill>
                  <a:srgbClr val="310F53"/>
                </a:solidFill>
              </a:rPr>
              <a:t>Что делает сервис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Полминуты на весь набор: три ранжированных варианта, выгрузка для ГИС, ведомость объёмов работ для сметы и проверка результата по правилам технического приложения.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96913064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636991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538271735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2085419699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930762244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256956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ЗАДАЧА</a:t>
            </a:r>
            <a:endParaRPr lang="ru-RU"/>
          </a:p>
        </p:txBody>
      </p:sp>
      <p:cxnSp>
        <p:nvCxnSpPr>
          <p:cNvPr id="1332435068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008261" name="Скругленный прямоугольник 2"/>
          <p:cNvSpPr/>
          <p:nvPr/>
        </p:nvSpPr>
        <p:spPr bwMode="auto">
          <a:xfrm>
            <a:off x="346075" y="324562"/>
            <a:ext cx="481523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65471486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403731762" name="Текст 3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Оранжевым — новая сеть, толщина линии по условному диаметру. Синим — тринадцать новых тепловых камер.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72058631" name="Текст 4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Присоединение выполнено новой камерой на участке 126. Её диаметр 400 задан разделённой ею существующей линией.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80913759" name="Текст 5"/>
          <p:cNvSpPr>
            <a:spLocks noGrp="1"/>
          </p:cNvSpPr>
          <p:nvPr>
            <p:ph type="body" sz="quarter" idx="17"/>
          </p:nvPr>
        </p:nvSpPr>
        <p:spPr bwMode="auto"/>
        <p:txBody>
          <a:bodyPr/>
          <a:lstStyle/>
          <a:p>
            <a:pPr>
              <a:defRPr/>
            </a:pPr>
            <a:r>
              <a:rPr sz="1100">
                <a:solidFill>
                  <a:srgbClr val="1C1D22"/>
                </a:solidFill>
              </a:rPr>
              <a:t>У этой камеры четыре примыкания из четырёх допустимых: два новых и два от разделённой существующей линии.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9233988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РЕЗУЛЬТАТ НА КАРТЕ</a:t>
            </a:r>
            <a:endParaRPr lang="ru-RU"/>
          </a:p>
        </p:txBody>
      </p:sp>
      <p:pic>
        <p:nvPicPr>
          <p:cNvPr id="2123008262" name="Picture 2123008261" descr="map-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47" y="1188720"/>
            <a:ext cx="10058400" cy="332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982342" name="Скругленный прямоугольник 2"/>
          <p:cNvSpPr/>
          <p:nvPr/>
        </p:nvSpPr>
        <p:spPr bwMode="auto">
          <a:xfrm>
            <a:off x="346075" y="324562"/>
            <a:ext cx="5773521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31062822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Проверка любой выгрузки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059455159" name="Текст 4"/>
          <p:cNvSpPr>
            <a:spLocks noGrp="1"/>
          </p:cNvSpPr>
          <p:nvPr>
            <p:ph type="body" sz="quarter" idx="18"/>
          </p:nvPr>
        </p:nvSpPr>
        <p:spPr bwMode="auto"/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Ручка принимает результат и входной набор от кого угодно, не только наши, и отвечает перечнем нарушений с указанием объектов. Подлог ловит: восемь внесённых поломок дали тридцать нарушений.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66208280" name="Текст 5"/>
          <p:cNvSpPr>
            <a:spLocks noGrp="1"/>
          </p:cNvSpPr>
          <p:nvPr>
            <p:ph type="body" sz="quarter" idx="22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Локальная оптимальность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14161409" name="Текст 6"/>
          <p:cNvSpPr>
            <a:spLocks noGrp="1"/>
          </p:cNvSpPr>
          <p:nvPr>
            <p:ph type="body" sz="quarter" idx="23"/>
          </p:nvPr>
        </p:nvSpPr>
        <p:spPr bwMode="auto"/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Тысяча двадцать семь одиночных ходов проверено на итоговом дереве: перенос развилки, смена места присоединения, переброс ветви. Ни один не улучшает решение.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39689176" name="Текст 7"/>
          <p:cNvSpPr>
            <a:spLocks noGrp="1"/>
          </p:cNvSpPr>
          <p:nvPr>
            <p:ph type="body" sz="quarter" idx="24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Разбор трассы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901087681" name="Текст 8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По каждому участку видно, чем задано его место: какое ограничение его зажало, сколько сантиметров запаса осталось и насколько он длиннее прямой.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6670854" name="Текст 9"/>
          <p:cNvSpPr>
            <a:spLocks noGrp="1"/>
          </p:cNvSpPr>
          <p:nvPr>
            <p:ph type="body" sz="quarter" idx="26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>
                <a:solidFill>
                  <a:srgbClr val="310F53"/>
                </a:solidFill>
              </a:rPr>
              <a:t>Анализ чувствительности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7379790" name="Текст 10"/>
          <p:cNvSpPr>
            <a:spLocks noGrp="1"/>
          </p:cNvSpPr>
          <p:nvPr>
            <p:ph type="body" sz="quarter" idx="27"/>
          </p:nvPr>
        </p:nvSpPr>
        <p:spPr bwMode="auto"/>
        <p:txBody>
          <a:bodyPr/>
          <a:lstStyle/>
          <a:p>
            <a:pPr>
              <a:defRPr/>
            </a:pPr>
            <a:r>
              <a:rPr sz="1000">
                <a:solidFill>
                  <a:srgbClr val="1C1D22"/>
                </a:solidFill>
              </a:rPr>
              <a:t>Задача решается заново без каждой точки подключения. Самая дорогая — номер четыре: без неё решение дешевле на 27,3 млн ₽ и короче на 182,4 м.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96362165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28</a:t>
            </a:fld>
            <a:endParaRPr lang="ru-RU">
              <a:solidFill>
                <a:schemeClr val="accent5"/>
              </a:solidFill>
            </a:endParaRPr>
          </a:p>
        </p:txBody>
      </p:sp>
      <p:grpSp>
        <p:nvGrpSpPr>
          <p:cNvPr id="988728" name="Группа 12"/>
          <p:cNvGrpSpPr/>
          <p:nvPr/>
        </p:nvGrpSpPr>
        <p:grpSpPr bwMode="auto">
          <a:xfrm>
            <a:off x="4951937" y="1208818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/>
            <p:cNvSpPr/>
            <p:nvPr/>
          </p:nvSpPr>
          <p:spPr bwMode="auto"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fill="norm" stroke="1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fill="norm" stroke="1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fill="norm" stroke="1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fill="norm" stroke="1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fill="norm" stroke="1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fill="norm" stroke="1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fill="norm" stroke="1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fill="norm" stroke="1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fill="norm" stroke="1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fill="norm" stroke="1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fill="norm" stroke="1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fill="norm" stroke="1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3" name="Рисунок 32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fill="norm" stroke="1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fill="norm" stroke="1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31257813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t>СВЕРХ ТРЕБОВАНИЙ КЕЙСА</a:t>
            </a:r>
            <a:endParaRPr lang="ru-RU"/>
          </a:p>
        </p:txBody>
      </p:sp>
      <p:pic>
        <p:nvPicPr>
          <p:cNvPr id="2059455160" name="Picture 2059455159" descr="tmp3i38gm7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872" y="1235915"/>
            <a:ext cx="2172255" cy="4602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2026-09-14T21:07:43Z</dcterms:modified>
</cp:coreProperties>
</file>